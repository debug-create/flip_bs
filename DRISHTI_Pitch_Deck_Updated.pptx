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9CA3A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9CA3AF"/>
                </a:solidFill>
                <a:latin typeface="Arial"/>
              </a:rPr>
              <a:t>Violation Volume by Type (2025)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 Violations (BTP 2024–25)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9FAF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B82F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8BF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B728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Helmet</c:v>
                  </c:pt>
                  <c:pt idx="1">
                    <c:v>Signal</c:v>
                  </c:pt>
                  <c:pt idx="2">
                    <c:v>Seatbelt</c:v>
                  </c:pt>
                  <c:pt idx="3">
                    <c:v>Wrong-Side</c:v>
                  </c:pt>
                  <c:pt idx="4">
                    <c:v>Parking</c:v>
                  </c:pt>
                  <c:pt idx="5">
                    <c:v>Delivery Execs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588000</c:v>
                </c:pt>
                <c:pt idx="1">
                  <c:v>120000</c:v>
                </c:pt>
                <c:pt idx="2">
                  <c:v>150000</c:v>
                </c:pt>
                <c:pt idx="3">
                  <c:v>45000</c:v>
                </c:pt>
                <c:pt idx="4">
                  <c:v>83000</c:v>
                </c:pt>
                <c:pt idx="5">
                  <c:v>63718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9FAF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F293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CA3A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2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strong. DRISHTI means vision in Sanskrit. We built an AI system that gives Bengaluru Traffic Police the ability to see violations automatically, at scale, using cameras they already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Bengaluru ranked 3rd worst traffic in the world. BTP issues 16,100 challans per day but 64% are helmet violations on the same junctions every single day. This isn't random — it's a solvable pattern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reactive loop is why helmet violations are the same percentage year after year since 2022. Challans that arrive 3 days later don't change behaviour at the moment of violation. DRISHTI creates immediate deterrence.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modules form a complete pipeline. Detect runs on existing BTP cameras. Identify creates legal-grade evidence. Predict shifts from reactive to proactive. Command gives officers intelligence, not just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Roboflow-trained models run in sequence. Vehicle detection identifies what's in frame. Helmet model runs on every vehicle crop. Plate model localises the plate region for OCR. Total inference under 2 seconds on GPU.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violations work live today. The architecture supports all 8 — the constraint on the remaining 5 is scene calibration data (stop-line positions, parking zone boundaries) which BTP already has. This is a data integration problem, not an AI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angle no other team will have. Flipkart's own delivery fleet is the problem and the solution. DRISHTI can give Flipkart real-time intelligence on their delivery corridors. Frame this as a B2B commercial opportunity, not just a civic good.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this slide while doing the live demo. The evidence package format is designed to be court-admissible under Section 136A of the Motor Vehicles Amendment Act 2019. Each violation gets a unique evidence ID, annotated image, OCR'd plate, and timestamp.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BATCS already proved 15-20% travel time improvement on 165 junctions. DRISHTI extends that intelligence to all 500+ junctions for violation prediction. The 921 deaths per year stat is the most powerful — emphasise that proactive enforcement at the 64 known black spots is within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differentiators are evidence quality and the Flipkart angle. No other team will have thought about delivery fleet intelligence. The MAEP multi-angle evidence package is explicitly designed for the MV Act 2019 legal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what we're showing today. Phase 2 is the 50-junction pilot ask. Frame Phase 3 as the commercial opportunity for Flipkart — multi-city deployment with their fleet as the primary B2B customer.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strong. The ask is specific and small — 50 junctions, 90 days, BTP data. That's a yes/no decision a BTP DCP can make on the spot. The GitHub link shows this is real, working code, not a concept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3474720" y="274320"/>
            <a:ext cx="2194560" cy="2194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800" kern="0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DRISHTI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दृष्टि  ·  Vision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31520" y="3703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Real-time Intelligence for Smart Traffic Holistic Intelligence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00400" y="4187952"/>
            <a:ext cx="27432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Chirantan  ·  Jasmon  ·  Chirag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Flipkart Gridlock Hackathon 2.0  ·  Phase 2  ·  Theme 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BENGALURU CRISIS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 traffic isn't just bad. It's quantifiably catastrophic.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71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traffic city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2514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 — TomTom 2024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123444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1371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₹20K Cr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50592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economic loss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450592" y="2514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congestion alone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123444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26864" y="1371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20L+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626864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Challans in 4 months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26864" y="2514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Jan–Apr 2025 by BTP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1234440"/>
            <a:ext cx="2011680" cy="2377440"/>
          </a:xfrm>
          <a:prstGeom prst="roundRect">
            <a:avLst>
              <a:gd name="adj" fmla="val 4545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3716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03136" y="21031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violations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03136" y="25146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traffic challans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BTP has 9,000+ cameras and ASTraM for monitoring — but </a:t>
            </a:r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ZERO ability to predict </a:t>
            </a:r>
            <a:pPr algn="ctr" indent="0" marL="0">
              <a:buNone/>
            </a:pPr>
            <a:r>
              <a:rPr lang="en-US" sz="13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violations before they happen. Manual review of footage is </a:t>
            </a:r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at scale.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CRITICAL GAP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BTP can monitor. BTP cannot predict. That gap costs lives.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1A0A0A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REACTIVE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6420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 occurs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75688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0482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ASTraM detects — 15 min later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59736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43230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sent to junction officer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43784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163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arrives after jam forms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22783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004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already 3–5 junctions long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58444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Challan issued 3 days later by SMS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95928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96849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Violator doesn't know. Behaviour unchanged.</a:t>
            </a:r>
            <a:endParaRPr lang="en-US" sz="11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2377440"/>
            <a:ext cx="731520" cy="73152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5029200" y="1097280"/>
            <a:ext cx="3840480" cy="3474720"/>
          </a:xfrm>
          <a:prstGeom prst="roundRect">
            <a:avLst>
              <a:gd name="adj" fmla="val 3158"/>
            </a:avLst>
          </a:prstGeom>
          <a:solidFill>
            <a:srgbClr val="0A1A0A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02920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— PREDICTIVE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120640" y="169164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4" name="Text 21"/>
          <p:cNvSpPr/>
          <p:nvPr/>
        </p:nvSpPr>
        <p:spPr>
          <a:xfrm>
            <a:off x="5394960" y="16642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scans live camera feed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120640" y="2075688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3"/>
          <p:cNvSpPr/>
          <p:nvPr/>
        </p:nvSpPr>
        <p:spPr>
          <a:xfrm>
            <a:off x="5394960" y="204825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violation in real-time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120640" y="2459736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8" name="Text 25"/>
          <p:cNvSpPr/>
          <p:nvPr/>
        </p:nvSpPr>
        <p:spPr>
          <a:xfrm>
            <a:off x="5394960" y="243230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evidence auto-generated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120640" y="2843784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0" name="Text 27"/>
          <p:cNvSpPr/>
          <p:nvPr/>
        </p:nvSpPr>
        <p:spPr>
          <a:xfrm>
            <a:off x="5394960" y="28163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alerted with exact location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120640" y="3227832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2" name="Text 29"/>
          <p:cNvSpPr/>
          <p:nvPr/>
        </p:nvSpPr>
        <p:spPr>
          <a:xfrm>
            <a:off x="5394960" y="32004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OCR → instant challan ready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120640" y="361188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4" name="Text 31"/>
          <p:cNvSpPr/>
          <p:nvPr/>
        </p:nvSpPr>
        <p:spPr>
          <a:xfrm>
            <a:off x="5394960" y="358444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prediction flags next zone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120640" y="3995928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6" name="Text 33"/>
          <p:cNvSpPr/>
          <p:nvPr/>
        </p:nvSpPr>
        <p:spPr>
          <a:xfrm>
            <a:off x="5394960" y="396849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breaks. Behaviour changes.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DRISHTI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integrated modules. One unified intelligence platform.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" y="1078992"/>
            <a:ext cx="2057400" cy="3749040"/>
          </a:xfrm>
          <a:prstGeom prst="roundRect">
            <a:avLst>
              <a:gd name="adj" fmla="val 4444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17043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50876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21031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0040" y="2514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computer vision on live camera feeds. Detects vehicles, riders, helmet compliance, triple riding, missing plates — in under 2 seconds.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" y="3977640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" y="39776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8328" y="4233672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" y="42336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Riding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38328" y="4489704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8328" y="448970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Plate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441448" y="1078992"/>
            <a:ext cx="2057400" cy="3749040"/>
          </a:xfrm>
          <a:prstGeom prst="roundRect">
            <a:avLst>
              <a:gd name="adj" fmla="val 4444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441448" y="117043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256" y="150876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41448" y="21031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532888" y="2514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Multi-Angle Evidence Package (MAEP). Dual OCR pipeline reads Indian plates instantly. Court-admissible annotated evidence auto-generated.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551176" y="3977640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551176" y="39776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ANPR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2551176" y="4233672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551176" y="42336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2551176" y="4489704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2551176" y="448970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MAEP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654296" y="1078992"/>
            <a:ext cx="2057400" cy="3749040"/>
          </a:xfrm>
          <a:prstGeom prst="roundRect">
            <a:avLst>
              <a:gd name="adj" fmla="val 4444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4654296" y="117043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1508760"/>
            <a:ext cx="548640" cy="54864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654296" y="21031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4745736" y="2514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hotspot model trained on BTP violation data. Predicts violation surge 30–60 min ahead. Enables proactive officer deployment.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764024" y="3977640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764024" y="39776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Map</a:t>
            </a:r>
            <a:endParaRPr lang="en-US" sz="900" dirty="0"/>
          </a:p>
        </p:txBody>
      </p:sp>
      <p:sp>
        <p:nvSpPr>
          <p:cNvPr id="33" name="Shape 28"/>
          <p:cNvSpPr/>
          <p:nvPr/>
        </p:nvSpPr>
        <p:spPr>
          <a:xfrm>
            <a:off x="4764024" y="4233672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4764024" y="42336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Forecast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4764024" y="4489704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4764024" y="448970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Data</a:t>
            </a:r>
            <a:endParaRPr lang="en-US" sz="900" dirty="0"/>
          </a:p>
        </p:txBody>
      </p:sp>
      <p:sp>
        <p:nvSpPr>
          <p:cNvPr id="37" name="Shape 32"/>
          <p:cNvSpPr/>
          <p:nvPr/>
        </p:nvSpPr>
        <p:spPr>
          <a:xfrm>
            <a:off x="6867144" y="1078992"/>
            <a:ext cx="2057400" cy="3749040"/>
          </a:xfrm>
          <a:prstGeom prst="roundRect">
            <a:avLst>
              <a:gd name="adj" fmla="val 4444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38" name="Text 33"/>
          <p:cNvSpPr/>
          <p:nvPr/>
        </p:nvSpPr>
        <p:spPr>
          <a:xfrm>
            <a:off x="6867144" y="117043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2" y="1508760"/>
            <a:ext cx="548640" cy="54864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867144" y="21031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</a:t>
            </a:r>
            <a:endParaRPr lang="en-US" sz="1600" dirty="0"/>
          </a:p>
        </p:txBody>
      </p:sp>
      <p:sp>
        <p:nvSpPr>
          <p:cNvPr id="41" name="Text 35"/>
          <p:cNvSpPr/>
          <p:nvPr/>
        </p:nvSpPr>
        <p:spPr>
          <a:xfrm>
            <a:off x="6958584" y="2514600"/>
            <a:ext cx="1874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BTP command dashboard with live Bengaluru heatmap, evidence log, analytics, fleet intelligence. Augments ASTraM — no new hardware needed.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6976872" y="3977640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6976872" y="397764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6976872" y="4233672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6976872" y="42336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6976872" y="4489704"/>
            <a:ext cx="1645920" cy="201168"/>
          </a:xfrm>
          <a:prstGeom prst="roundRect">
            <a:avLst>
              <a:gd name="adj" fmla="val 22727"/>
            </a:avLst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6976872" y="448970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Intel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3-stage AI inference pipeline on existing BTP infrastructure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" y="109728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1A2235"/>
          </a:solidFill>
          <a:ln w="12700">
            <a:solidFill>
              <a:srgbClr val="6B728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887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" y="17830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37160" y="205740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Image Upload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48" y="1874520"/>
            <a:ext cx="164592" cy="16459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920240" y="109728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1A22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448" y="118872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920240" y="17830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1920240" y="205740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Detection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· 84.2% mAP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874520"/>
            <a:ext cx="164592" cy="16459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3703320" y="109728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1A2235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1188720"/>
            <a:ext cx="548640" cy="5486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03320" y="17830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3703320" y="205740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Check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Fine-tuned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Traffic Data</a:t>
            </a:r>
            <a:endParaRPr lang="en-US" sz="10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21808" y="1874520"/>
            <a:ext cx="164592" cy="164592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5486400" y="109728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1A2235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7608" y="1188720"/>
            <a:ext cx="548640" cy="54864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486400" y="17830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000" dirty="0"/>
          </a:p>
        </p:txBody>
      </p:sp>
      <p:sp>
        <p:nvSpPr>
          <p:cNvPr id="22" name="Text 13"/>
          <p:cNvSpPr/>
          <p:nvPr/>
        </p:nvSpPr>
        <p:spPr>
          <a:xfrm>
            <a:off x="5486400" y="205740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Detection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OCR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97.2% mAP</a:t>
            </a:r>
            <a:endParaRPr lang="en-US" sz="10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4888" y="1874520"/>
            <a:ext cx="164592" cy="164592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7269480" y="1097280"/>
            <a:ext cx="1600200" cy="2103120"/>
          </a:xfrm>
          <a:prstGeom prst="roundRect">
            <a:avLst>
              <a:gd name="adj" fmla="val 5714"/>
            </a:avLst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0688" y="1188720"/>
            <a:ext cx="548640" cy="54864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269480" y="178308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27" name="Text 16"/>
          <p:cNvSpPr/>
          <p:nvPr/>
        </p:nvSpPr>
        <p:spPr>
          <a:xfrm>
            <a:off x="7269480" y="2057400"/>
            <a:ext cx="1600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Alert + Analytics</a:t>
            </a:r>
            <a:endParaRPr lang="en-US" sz="1000" dirty="0"/>
          </a:p>
        </p:txBody>
      </p:sp>
      <p:sp>
        <p:nvSpPr>
          <p:cNvPr id="28" name="Text 17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29" name="Shape 18"/>
          <p:cNvSpPr/>
          <p:nvPr/>
        </p:nvSpPr>
        <p:spPr>
          <a:xfrm>
            <a:off x="274320" y="365760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Text 19"/>
          <p:cNvSpPr/>
          <p:nvPr/>
        </p:nvSpPr>
        <p:spPr>
          <a:xfrm>
            <a:off x="27432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31" name="Text 20"/>
          <p:cNvSpPr/>
          <p:nvPr/>
        </p:nvSpPr>
        <p:spPr>
          <a:xfrm>
            <a:off x="27432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32" name="Shape 21"/>
          <p:cNvSpPr/>
          <p:nvPr/>
        </p:nvSpPr>
        <p:spPr>
          <a:xfrm>
            <a:off x="1508760" y="365760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Text 22"/>
          <p:cNvSpPr/>
          <p:nvPr/>
        </p:nvSpPr>
        <p:spPr>
          <a:xfrm>
            <a:off x="150876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</a:t>
            </a:r>
            <a:endParaRPr lang="en-US" sz="1100" dirty="0"/>
          </a:p>
        </p:txBody>
      </p:sp>
      <p:sp>
        <p:nvSpPr>
          <p:cNvPr id="34" name="Text 23"/>
          <p:cNvSpPr/>
          <p:nvPr/>
        </p:nvSpPr>
        <p:spPr>
          <a:xfrm>
            <a:off x="150876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900" dirty="0"/>
          </a:p>
        </p:txBody>
      </p:sp>
      <p:sp>
        <p:nvSpPr>
          <p:cNvPr id="35" name="Shape 24"/>
          <p:cNvSpPr/>
          <p:nvPr/>
        </p:nvSpPr>
        <p:spPr>
          <a:xfrm>
            <a:off x="2743200" y="365760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Text 25"/>
          <p:cNvSpPr/>
          <p:nvPr/>
        </p:nvSpPr>
        <p:spPr>
          <a:xfrm>
            <a:off x="274320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</a:t>
            </a:r>
            <a:endParaRPr lang="en-US" sz="1100" dirty="0"/>
          </a:p>
        </p:txBody>
      </p:sp>
      <p:sp>
        <p:nvSpPr>
          <p:cNvPr id="37" name="Text 26"/>
          <p:cNvSpPr/>
          <p:nvPr/>
        </p:nvSpPr>
        <p:spPr>
          <a:xfrm>
            <a:off x="274320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Read</a:t>
            </a:r>
            <a:endParaRPr lang="en-US" sz="900" dirty="0"/>
          </a:p>
        </p:txBody>
      </p:sp>
      <p:sp>
        <p:nvSpPr>
          <p:cNvPr id="38" name="Shape 27"/>
          <p:cNvSpPr/>
          <p:nvPr/>
        </p:nvSpPr>
        <p:spPr>
          <a:xfrm>
            <a:off x="3977640" y="365760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397764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100" dirty="0"/>
          </a:p>
        </p:txBody>
      </p:sp>
      <p:sp>
        <p:nvSpPr>
          <p:cNvPr id="40" name="Text 29"/>
          <p:cNvSpPr/>
          <p:nvPr/>
        </p:nvSpPr>
        <p:spPr>
          <a:xfrm>
            <a:off x="397764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00" dirty="0"/>
          </a:p>
        </p:txBody>
      </p:sp>
      <p:sp>
        <p:nvSpPr>
          <p:cNvPr id="41" name="Shape 30"/>
          <p:cNvSpPr/>
          <p:nvPr/>
        </p:nvSpPr>
        <p:spPr>
          <a:xfrm>
            <a:off x="5212080" y="365760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Text 31"/>
          <p:cNvSpPr/>
          <p:nvPr/>
        </p:nvSpPr>
        <p:spPr>
          <a:xfrm>
            <a:off x="521208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100" dirty="0"/>
          </a:p>
        </p:txBody>
      </p:sp>
      <p:sp>
        <p:nvSpPr>
          <p:cNvPr id="43" name="Text 32"/>
          <p:cNvSpPr/>
          <p:nvPr/>
        </p:nvSpPr>
        <p:spPr>
          <a:xfrm>
            <a:off x="521208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44" name="Shape 33"/>
          <p:cNvSpPr/>
          <p:nvPr/>
        </p:nvSpPr>
        <p:spPr>
          <a:xfrm>
            <a:off x="6446520" y="365760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644652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</a:t>
            </a:r>
            <a:endParaRPr lang="en-US" sz="1100" dirty="0"/>
          </a:p>
        </p:txBody>
      </p:sp>
      <p:sp>
        <p:nvSpPr>
          <p:cNvPr id="46" name="Text 35"/>
          <p:cNvSpPr/>
          <p:nvPr/>
        </p:nvSpPr>
        <p:spPr>
          <a:xfrm>
            <a:off x="644652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</a:t>
            </a:r>
            <a:endParaRPr lang="en-US" sz="900" dirty="0"/>
          </a:p>
        </p:txBody>
      </p:sp>
      <p:sp>
        <p:nvSpPr>
          <p:cNvPr id="47" name="Shape 36"/>
          <p:cNvSpPr/>
          <p:nvPr/>
        </p:nvSpPr>
        <p:spPr>
          <a:xfrm>
            <a:off x="7680960" y="3657600"/>
            <a:ext cx="1097280" cy="685800"/>
          </a:xfrm>
          <a:prstGeom prst="roundRect">
            <a:avLst>
              <a:gd name="adj" fmla="val 9333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Text 37"/>
          <p:cNvSpPr/>
          <p:nvPr/>
        </p:nvSpPr>
        <p:spPr>
          <a:xfrm>
            <a:off x="768096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100" dirty="0"/>
          </a:p>
        </p:txBody>
      </p:sp>
      <p:sp>
        <p:nvSpPr>
          <p:cNvPr id="49" name="Text 38"/>
          <p:cNvSpPr/>
          <p:nvPr/>
        </p:nvSpPr>
        <p:spPr>
          <a:xfrm>
            <a:off x="768096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No new hardware required — DRISHTI plugs into BTP's existing 9,000+ camera network  ·  Models hosted on Roboflow serverless hub  ·  Fully containerised via Docker Compose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DRISHTI DETECTS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violation classes. Court-admissible annotated evidence for each.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0A2A0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216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Non-Compliance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15453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 of all BTP challans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1344168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D3B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0" y="134416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74320" y="20574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0A2A0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19456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" y="21305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Riding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914400" y="24597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from helmet model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00400" y="2258568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D3B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200400" y="225856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74320" y="29718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0A2A0A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10896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30449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Defective / Missing Plate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14400" y="33741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model + OCR pipeline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200400" y="3172968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0D3B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200400" y="317296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274320" y="38862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2A1A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4023360"/>
            <a:ext cx="457200" cy="4572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4400" y="39593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Wrong-Side Driving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914400" y="42885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tracking required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00400" y="4087368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3B2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3200400" y="408736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617720" y="11430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2A1A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28016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57800" y="12161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Illegal Parking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5257800" y="15453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calibration needed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7543800" y="1344168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3B2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7543800" y="134416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4617720" y="20574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2A1A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9160" y="2194560"/>
            <a:ext cx="457200" cy="4572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257800" y="21305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Stop-Line Violation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5257800" y="24597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Stop-line annotation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7543800" y="2258568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3B2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7543800" y="225856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4617720" y="29718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2A1A00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3108960"/>
            <a:ext cx="457200" cy="45720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5257800" y="30449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Red-Light Running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5257800" y="33741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state detection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7543800" y="3172968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3B22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7543800" y="317296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4617720" y="388620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160" y="4023360"/>
            <a:ext cx="457200" cy="457200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5257800" y="39593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Seatbelt Non-Compliance</a:t>
            </a:r>
            <a:endParaRPr lang="en-US" sz="1200" dirty="0"/>
          </a:p>
        </p:txBody>
      </p:sp>
      <p:sp>
        <p:nvSpPr>
          <p:cNvPr id="49" name="Text 39"/>
          <p:cNvSpPr/>
          <p:nvPr/>
        </p:nvSpPr>
        <p:spPr>
          <a:xfrm>
            <a:off x="5257800" y="428853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Interior camera needed</a:t>
            </a:r>
            <a:endParaRPr lang="en-US" sz="1000" dirty="0"/>
          </a:p>
        </p:txBody>
      </p:sp>
      <p:sp>
        <p:nvSpPr>
          <p:cNvPr id="50" name="Shape 40"/>
          <p:cNvSpPr/>
          <p:nvPr/>
        </p:nvSpPr>
        <p:spPr>
          <a:xfrm>
            <a:off x="7543800" y="4087368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111827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1" name="Text 41"/>
          <p:cNvSpPr/>
          <p:nvPr/>
        </p:nvSpPr>
        <p:spPr>
          <a:xfrm>
            <a:off x="7543800" y="4087368"/>
            <a:ext cx="1143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FLIPKART INTELLIGENCE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Flipkart delivery on Bengaluru roads is a real-time data point.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931920" cy="3749040"/>
          </a:xfrm>
          <a:prstGeom prst="roundRect">
            <a:avLst>
              <a:gd name="adj" fmla="val 2439"/>
            </a:avLst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984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75564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71907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1.46 lakh delivery violations 2023–25 — and rising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1480" y="230428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" y="226771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Bengaluru = Flipkart's primary zone = highest violation density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1480" y="285292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658368" y="281635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30,968 → 52,153 → 63,718 violations per year (steep growth)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11480" y="340156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" y="336499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executives under 10-min pressure ride on footpaths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11480" y="3950208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3"/>
          <p:cNvSpPr/>
          <p:nvPr/>
        </p:nvSpPr>
        <p:spPr>
          <a:xfrm>
            <a:off x="658368" y="391363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ORR corridor congestion costs Flipkart delivery ETAs daily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572000" y="1097280"/>
            <a:ext cx="4297680" cy="3749040"/>
          </a:xfrm>
          <a:prstGeom prst="roundRect">
            <a:avLst>
              <a:gd name="adj" fmla="val 2439"/>
            </a:avLst>
          </a:prstGeom>
          <a:solidFill>
            <a:srgbClr val="1A2235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3444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03520" y="129844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DRISHTI GIVES FLIPKART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754880" y="17373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Safety Score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75488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violation rate per delivery zone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4754880" y="23042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Intelligence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754880" y="253288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Congestion + violation hotspot overlay for routing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754880" y="28712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Compliance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754880" y="30998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/ traffic violation tracking per executive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754880" y="34381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Optimisation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754880" y="36667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high-violation corridors, improve delivery times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754880" y="40050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API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754880" y="423367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DRISHTI data directly into Flipkart logistics systems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 IN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camera feed to court-admissible evidence in under 2 seconds.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080C14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· DRISHTI-v1.0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2960" y="1463040"/>
            <a:ext cx="1645920" cy="2286000"/>
          </a:xfrm>
          <a:prstGeom prst="rect">
            <a:avLst/>
          </a:prstGeom>
          <a:solidFill>
            <a:srgbClr val="EF4444">
              <a:alpha val="15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8132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Helmet Non-Compliance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 confidence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0" y="1554480"/>
            <a:ext cx="1645920" cy="2194560"/>
          </a:xfrm>
          <a:prstGeom prst="rect">
            <a:avLst/>
          </a:prstGeom>
          <a:solidFill>
            <a:srgbClr val="22C55E">
              <a:alpha val="12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5727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Clean · 92%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14400" y="3520440"/>
            <a:ext cx="16459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566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 03 MJ 1234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0" y="105156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577840" y="1143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PACKAGE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23560" y="148132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903720" y="14813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DRISHTI-20260621-4UCS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23560" y="181051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903720" y="18105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21 2026  08:34:12 IST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23560" y="213969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03720" y="21396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Puram · CAM-B North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623560" y="24688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903720" y="2468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Non-Compliance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23560" y="279806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03720" y="27980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87.3%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23560" y="31272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OCR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903720" y="31272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KA03MJ1234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623560" y="345643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903720" y="3456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136A MV Act 2019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23560" y="378561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03720" y="37856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Challan Ready ✓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57200" y="4389120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40740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&lt;2s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57200" y="46634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time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33472" y="4389120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33472" y="440740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84.2%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2633472" y="46634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mAP@50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9744" y="4389120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9744" y="440740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97.2%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809744" y="46634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mAP@50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86016" y="4389120"/>
            <a:ext cx="1920240" cy="594360"/>
          </a:xfrm>
          <a:prstGeom prst="roundRect">
            <a:avLst>
              <a:gd name="adj" fmla="val 10769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86016" y="4407408"/>
            <a:ext cx="19202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986016" y="466344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live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AT SCALE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when DRISHTI goes citywide.</a:t>
            </a:r>
            <a:endParaRPr lang="en-US" sz="1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51560"/>
          <a:ext cx="475488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212080" y="1051560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1808" y="1216152"/>
            <a:ext cx="411480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806440" y="1124712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9,000+ cameras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806440" y="14173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deployed by BTP — DRISHTI runs on existing infrastructure, zero capex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212080" y="1947672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2112264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06440" y="2020824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5,600 officers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806440" y="231343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officer becomes 10x effective with predictive deployment intelligence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5212080" y="2843784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808" y="3008376"/>
            <a:ext cx="411480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806440" y="2916936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921 road deaths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806440" y="320954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year in Bengaluru. Proactive enforcement at 64 black spots reduces risk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5212080" y="3739896"/>
            <a:ext cx="3657600" cy="777240"/>
          </a:xfrm>
          <a:prstGeom prst="roundRect">
            <a:avLst>
              <a:gd name="adj" fmla="val 9412"/>
            </a:avLst>
          </a:prstGeom>
          <a:solidFill>
            <a:srgbClr val="1A2235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5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808" y="3904488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806440" y="3813048"/>
            <a:ext cx="29260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₹20,000 Cr loss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806440" y="410565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economic cost. Smarter enforcement reduces peak congestion 15-20%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DRISHTI IS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every other team will build vs. what we built.</a:t>
            </a:r>
            <a:endParaRPr lang="en-US" sz="1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374904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108960"/>
              </a:tblGrid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Teams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DRISHTI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YOLO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3-model pipeline + OCR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Screenshot + label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MAEP package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(court-admissible)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BTP hotspot heatmap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officer routing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cameras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9,000+ BTP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cameras — zero capex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Flipkart fit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traffic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Fleet intelligence B2B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corridor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235"/>
                    </a:solidFill>
                  </a:tcPr>
                </a:tc>
              </a:tr>
              <a:tr h="5355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 basis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9CA3A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cited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 136A MV Act 2019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MAEP evidence standard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hackathon prototype to city-scale deployment in 3 phases.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78992"/>
            <a:ext cx="2743200" cy="3749040"/>
          </a:xfrm>
          <a:prstGeom prst="roundRect">
            <a:avLst>
              <a:gd name="adj" fmla="val 3333"/>
            </a:avLst>
          </a:prstGeom>
          <a:solidFill>
            <a:srgbClr val="1A22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70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· Prototype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64792"/>
            <a:ext cx="2194560" cy="182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YOLOv8 3-stage detection + EasyOCR plate reading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3957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Vahan 4.0 vehicle registry + evidence log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9169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BTP command dashboard + predictive hotspot heatmap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4381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Citizen reporter + CitizenView public feed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39593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Docker deployment + security hardening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1078992"/>
            <a:ext cx="2743200" cy="3749040"/>
          </a:xfrm>
          <a:prstGeom prst="roundRect">
            <a:avLst>
              <a:gd name="adj" fmla="val 3333"/>
            </a:avLst>
          </a:prstGeom>
          <a:solidFill>
            <a:srgbClr val="1A22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0" y="1170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 · Pilot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0" y="1764792"/>
            <a:ext cx="2194560" cy="182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50-junction BTP pilot deployment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37560" y="23957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Live RTSP camera integration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29169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Wrong-side + stop-line detection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34381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Real-time officer alert SMS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39593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90-day BTP operational data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1078992"/>
            <a:ext cx="2743200" cy="3749040"/>
          </a:xfrm>
          <a:prstGeom prst="roundRect">
            <a:avLst>
              <a:gd name="adj" fmla="val 3333"/>
            </a:avLst>
          </a:prstGeom>
          <a:solidFill>
            <a:srgbClr val="1A2235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126480" y="11704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12648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· Scale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00800" y="1764792"/>
            <a:ext cx="2194560" cy="1828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8745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 500+ Bengaluru junctions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63640" y="23957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Flipkart fleet B2B API live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63640" y="291693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Multi-city deployment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343814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Parivahan integration (auto-challan)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63640" y="395935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F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Predictive patrol routing (TSP)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3657600" cy="3657600"/>
          </a:xfrm>
          <a:prstGeom prst="ellipse">
            <a:avLst/>
          </a:prstGeom>
          <a:solidFill>
            <a:srgbClr val="3B82F6">
              <a:alpha val="8000"/>
            </a:srgbClr>
          </a:solidFill>
          <a:ln w="12700">
            <a:solidFill>
              <a:srgbClr val="3B82F6">
                <a:alpha val="800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3657600" y="36576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57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800" kern="0" dirty="0">
                <a:solidFill>
                  <a:srgbClr val="F9FA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DRISHTI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BTP the ability to see violations before they happen.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3401568"/>
            <a:ext cx="2743200" cy="27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A 50-junction pilot with BTP operational data for 90 days.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8862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hardware.  ·  No new cameras.  ·  Just intelligence.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github.com/debug-create/flip_BS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DRISHTI — Traffic Violation Detection System</dc:title>
  <dc:subject>PptxGenJS Presentation</dc:subject>
  <dc:creator>Team DRISHTI</dc:creator>
  <cp:lastModifiedBy>Team DRISHTI</cp:lastModifiedBy>
  <cp:revision>1</cp:revision>
  <dcterms:created xsi:type="dcterms:W3CDTF">2026-06-21T03:22:28Z</dcterms:created>
  <dcterms:modified xsi:type="dcterms:W3CDTF">2026-06-21T03:22:28Z</dcterms:modified>
</cp:coreProperties>
</file>